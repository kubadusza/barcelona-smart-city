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d48f473e2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fd48f473e2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d48f473e2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94360" y="1097280"/>
            <a:ext cx="7955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AI-Powered Smart City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94360" y="20116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Making Barcelona's open data accessible through AI &amp; Cloud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94360" y="2606040"/>
            <a:ext cx="914400" cy="27432"/>
          </a:xfrm>
          <a:prstGeom prst="rect">
            <a:avLst/>
          </a:prstGeom>
          <a:solidFill>
            <a:srgbClr val="4A9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94360" y="283464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Jia Lyu  ·  Jakub Dusza  ·  José Arias Pérez  ·  Mark Atzberger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94360" y="324612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CCBDA  ·  May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594360" y="201168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94360" y="45720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94360" y="123444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594360" y="1353312"/>
            <a:ext cx="502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143000" y="1353312"/>
            <a:ext cx="6858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Project idea &amp; background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94360" y="1755648"/>
            <a:ext cx="7955280" cy="914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94360" y="1828800"/>
            <a:ext cx="502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143000" y="1828800"/>
            <a:ext cx="6858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Project’s Evolution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94360" y="2231136"/>
            <a:ext cx="7955280" cy="914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94360" y="2304288"/>
            <a:ext cx="502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143000" y="2304288"/>
            <a:ext cx="6858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Amazon Bedrock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94360" y="2706624"/>
            <a:ext cx="7955280" cy="914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94360" y="2779776"/>
            <a:ext cx="502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43000" y="2779776"/>
            <a:ext cx="6858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MCP Server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94360" y="3182112"/>
            <a:ext cx="7955280" cy="914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94360" y="3255264"/>
            <a:ext cx="502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143000" y="3255264"/>
            <a:ext cx="6858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Integrations &amp; architecture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94360" y="3657600"/>
            <a:ext cx="7955280" cy="914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94360" y="3730752"/>
            <a:ext cx="502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43000" y="3730752"/>
            <a:ext cx="6858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594360" y="201168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01  ·  Project Idea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94360" y="45720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Barcelona Smart City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94360" y="123444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594360" y="138988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94360" y="1559904"/>
            <a:ext cx="384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Barcelona's open data is spread across many APIs — hard to access and use daily.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94360" y="2336295"/>
            <a:ext cx="3840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94360" y="2507299"/>
            <a:ext cx="384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An AI layer that lets anyone ask questions in plain language and get instant city insights.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663440" y="1389888"/>
            <a:ext cx="18288" cy="26517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846320" y="138988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846320" y="18288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Weather (Open-Meteo</a:t>
            </a:r>
            <a:r>
              <a:rPr lang="en-US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, XVPCA from Barcelona city’s open data portal</a:t>
            </a:r>
            <a:r>
              <a:rPr b="0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846320" y="230428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Transportation(TMB API, citybik.es, Transitous)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846320" y="2779776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Air quality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846320" y="3255264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UV index(currentuvindex.com)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94360" y="416052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594360" y="3282643"/>
            <a:ext cx="146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Target users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94360" y="3510618"/>
            <a:ext cx="640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Everyday residents and visitors in Barcelona</a:t>
            </a:r>
            <a:endParaRPr b="0" i="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594360" y="201168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02  ·  Evolution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94360" y="45720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Evol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94360" y="123444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594360" y="1618488"/>
            <a:ext cx="347472" cy="347472"/>
          </a:xfrm>
          <a:prstGeom prst="rect">
            <a:avLst/>
          </a:prstGeom>
          <a:solidFill>
            <a:srgbClr val="4A9E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749808" y="1965960"/>
            <a:ext cx="36576" cy="5943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1097280" y="1600195"/>
            <a:ext cx="7315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 proposal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097280" y="1819656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Data lake on AWS — S3, Glue, Athena, QuickSight dashboard, Bedrock chatbot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94360" y="2715768"/>
            <a:ext cx="347472" cy="347472"/>
          </a:xfrm>
          <a:prstGeom prst="rect">
            <a:avLst/>
          </a:prstGeom>
          <a:solidFill>
            <a:srgbClr val="4A9E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749808" y="3063240"/>
            <a:ext cx="36576" cy="5943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1097280" y="2697488"/>
            <a:ext cx="7315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Discovered MCP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97280" y="2916936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Model Context Protocol — a standard that lets any AI agent call our tools via a single server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94360" y="3813048"/>
            <a:ext cx="347472" cy="347472"/>
          </a:xfrm>
          <a:prstGeom prst="rect">
            <a:avLst/>
          </a:prstGeom>
          <a:solidFill>
            <a:srgbClr val="4A9E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097280" y="3776480"/>
            <a:ext cx="7315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1097280" y="4014216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MCP Server </a:t>
            </a:r>
            <a:r>
              <a:rPr lang="en-US" sz="13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used by</a:t>
            </a:r>
            <a:r>
              <a:rPr b="0" i="0" lang="en-US" sz="13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 AWS Lambda + Bedrock Agents + Telegram Bot + 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/>
          <p:nvPr/>
        </p:nvSpPr>
        <p:spPr>
          <a:xfrm>
            <a:off x="594360" y="201168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03  ·  Amazon Bedrock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594360" y="45720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Amazon Bedrock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594360" y="123444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594360" y="1371600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What it 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94360" y="1737360"/>
            <a:ext cx="7955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 managed AWS service that gives access to foundation models (Claude, Llama, Titan) via API — no model training, no infrastructure to manage.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94360" y="2450592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594360" y="2587752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Why we chose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94360" y="299923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Simple to set 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94360" y="3346704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No model hosting or scaling needed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3383280" y="299923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Stays inside AWS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3383280" y="3346704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Security, IAM, VPC — all handled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172200" y="299923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Bedrock Agents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172200" y="3346704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Orchestrates multi-step tool calls automatically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94360" y="397764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594360" y="201168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04  ·  MCP 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594360" y="45720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Context Protocol - MCP Server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94360" y="123444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594360" y="137160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A standard protocol that lets any AI agent connect to any tool server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594360" y="2029968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594360" y="2148840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594360" y="2651760"/>
            <a:ext cx="320040" cy="320040"/>
          </a:xfrm>
          <a:prstGeom prst="rect">
            <a:avLst/>
          </a:prstGeom>
          <a:solidFill>
            <a:srgbClr val="4A9E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1051560" y="260604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Handshake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2743200" y="2606040"/>
            <a:ext cx="5669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Client connects → server replies with available tools and capabilities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594360" y="3191256"/>
            <a:ext cx="7955280" cy="914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594360" y="3310128"/>
            <a:ext cx="320040" cy="320040"/>
          </a:xfrm>
          <a:prstGeom prst="rect">
            <a:avLst/>
          </a:prstGeom>
          <a:solidFill>
            <a:srgbClr val="4A9E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1051560" y="3264408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2743200" y="3264408"/>
            <a:ext cx="5669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Client asks "tools/list" → server returns names, descriptions, input schemas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594360" y="3849624"/>
            <a:ext cx="7955280" cy="914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594360" y="3968496"/>
            <a:ext cx="320040" cy="320040"/>
          </a:xfrm>
          <a:prstGeom prst="rect">
            <a:avLst/>
          </a:prstGeom>
          <a:solidFill>
            <a:srgbClr val="4A9E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1051560" y="3922776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2743200" y="3922776"/>
            <a:ext cx="5669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Client calls "tools/call" with arguments → server runs it and returns JSON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94360" y="4645152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/>
          <p:nvPr/>
        </p:nvSpPr>
        <p:spPr>
          <a:xfrm>
            <a:off x="594360" y="201168"/>
            <a:ext cx="795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04  ·  MCP 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594360" y="457200"/>
            <a:ext cx="7955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Context Protocol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594360" y="1188720"/>
            <a:ext cx="7955400" cy="183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9"/>
          <p:cNvCxnSpPr/>
          <p:nvPr/>
        </p:nvCxnSpPr>
        <p:spPr>
          <a:xfrm flipH="1">
            <a:off x="2971500" y="2697480"/>
            <a:ext cx="300" cy="534600"/>
          </a:xfrm>
          <a:prstGeom prst="straightConnector1">
            <a:avLst/>
          </a:prstGeom>
          <a:noFill/>
          <a:ln cap="flat" cmpd="sng" w="1015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9"/>
          <p:cNvCxnSpPr/>
          <p:nvPr/>
        </p:nvCxnSpPr>
        <p:spPr>
          <a:xfrm>
            <a:off x="1920290" y="3233492"/>
            <a:ext cx="1051500" cy="0"/>
          </a:xfrm>
          <a:prstGeom prst="straightConnector1">
            <a:avLst/>
          </a:prstGeom>
          <a:noFill/>
          <a:ln cap="flat" cmpd="sng" w="1015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9"/>
          <p:cNvCxnSpPr/>
          <p:nvPr/>
        </p:nvCxnSpPr>
        <p:spPr>
          <a:xfrm>
            <a:off x="1920215" y="3233417"/>
            <a:ext cx="0" cy="109800"/>
          </a:xfrm>
          <a:prstGeom prst="straightConnector1">
            <a:avLst/>
          </a:prstGeom>
          <a:noFill/>
          <a:ln cap="flat" cmpd="sng" w="1015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9"/>
          <p:cNvCxnSpPr/>
          <p:nvPr/>
        </p:nvCxnSpPr>
        <p:spPr>
          <a:xfrm>
            <a:off x="6172200" y="2697480"/>
            <a:ext cx="9000" cy="606600"/>
          </a:xfrm>
          <a:prstGeom prst="straightConnector1">
            <a:avLst/>
          </a:prstGeom>
          <a:noFill/>
          <a:ln cap="flat" cmpd="sng" w="10150">
            <a:solidFill>
              <a:srgbClr val="4A9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9"/>
          <p:cNvCxnSpPr/>
          <p:nvPr/>
        </p:nvCxnSpPr>
        <p:spPr>
          <a:xfrm>
            <a:off x="6178680" y="3289051"/>
            <a:ext cx="1051500" cy="0"/>
          </a:xfrm>
          <a:prstGeom prst="straightConnector1">
            <a:avLst/>
          </a:prstGeom>
          <a:noFill/>
          <a:ln cap="flat" cmpd="sng" w="10150">
            <a:solidFill>
              <a:srgbClr val="4A9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9"/>
          <p:cNvCxnSpPr/>
          <p:nvPr/>
        </p:nvCxnSpPr>
        <p:spPr>
          <a:xfrm>
            <a:off x="7223810" y="3289042"/>
            <a:ext cx="0" cy="109800"/>
          </a:xfrm>
          <a:prstGeom prst="straightConnector1">
            <a:avLst/>
          </a:prstGeom>
          <a:noFill/>
          <a:ln cap="flat" cmpd="sng" w="10150">
            <a:solidFill>
              <a:srgbClr val="4A9E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9"/>
          <p:cNvSpPr/>
          <p:nvPr/>
        </p:nvSpPr>
        <p:spPr>
          <a:xfrm>
            <a:off x="1645925" y="1353300"/>
            <a:ext cx="5852100" cy="1428600"/>
          </a:xfrm>
          <a:prstGeom prst="rect">
            <a:avLst/>
          </a:prstGeom>
          <a:solidFill>
            <a:srgbClr val="171717"/>
          </a:solidFill>
          <a:ln cap="flat" cmpd="sng" w="19050">
            <a:solidFill>
              <a:srgbClr val="4A9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1645920" y="1444752"/>
            <a:ext cx="5852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Host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645920" y="1755648"/>
            <a:ext cx="585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e.g. Claude / Bedrock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920240" y="2103120"/>
            <a:ext cx="2103000" cy="594300"/>
          </a:xfrm>
          <a:prstGeom prst="rect">
            <a:avLst/>
          </a:prstGeom>
          <a:solidFill>
            <a:srgbClr val="242424"/>
          </a:solidFill>
          <a:ln cap="flat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1920240" y="2103120"/>
            <a:ext cx="2103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1920240" y="2404872"/>
            <a:ext cx="210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GitHub connection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120640" y="2103120"/>
            <a:ext cx="2103000" cy="594300"/>
          </a:xfrm>
          <a:prstGeom prst="rect">
            <a:avLst/>
          </a:prstGeom>
          <a:solidFill>
            <a:srgbClr val="141820"/>
          </a:solidFill>
          <a:ln cap="flat" cmpd="sng" w="12700">
            <a:solidFill>
              <a:srgbClr val="4A9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5120640" y="2103120"/>
            <a:ext cx="2103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5120640" y="2404872"/>
            <a:ext cx="210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Smart City connection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069080" y="2194560"/>
            <a:ext cx="10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 client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per server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11475" y="3365050"/>
            <a:ext cx="3017400" cy="1572600"/>
          </a:xfrm>
          <a:prstGeom prst="rect">
            <a:avLst/>
          </a:prstGeom>
          <a:solidFill>
            <a:srgbClr val="141414"/>
          </a:solidFill>
          <a:ln cap="flat" cmpd="sng" w="12700">
            <a:solidFill>
              <a:srgbClr val="3838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411530" y="3468348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MCP SERVER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411530" y="3632939"/>
            <a:ext cx="301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b="1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557784" y="4035276"/>
            <a:ext cx="2724900" cy="2013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557850" y="4035275"/>
            <a:ext cx="2724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E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9EBF"/>
                </a:solidFill>
                <a:latin typeface="Calibri"/>
                <a:ea typeface="Calibri"/>
                <a:cs typeface="Calibri"/>
                <a:sym typeface="Calibri"/>
              </a:rPr>
              <a:t>list_repos()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57784" y="4273020"/>
            <a:ext cx="2724900" cy="2013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557784" y="4510764"/>
            <a:ext cx="2724900" cy="2013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557950" y="4510775"/>
            <a:ext cx="2724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E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9EBF"/>
                </a:solidFill>
                <a:latin typeface="Calibri"/>
                <a:ea typeface="Calibri"/>
                <a:cs typeface="Calibri"/>
                <a:sym typeface="Calibri"/>
              </a:rPr>
              <a:t>get_commits()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715100" y="3398851"/>
            <a:ext cx="3017400" cy="1538700"/>
          </a:xfrm>
          <a:prstGeom prst="rect">
            <a:avLst/>
          </a:prstGeom>
          <a:solidFill>
            <a:srgbClr val="141820"/>
          </a:solidFill>
          <a:ln cap="flat" cmpd="sng" w="15225">
            <a:solidFill>
              <a:srgbClr val="4A9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5715100" y="3490285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MCP SERVER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715100" y="3654877"/>
            <a:ext cx="301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Smart City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861404" y="4057213"/>
            <a:ext cx="2724900" cy="201300"/>
          </a:xfrm>
          <a:prstGeom prst="rect">
            <a:avLst/>
          </a:prstGeom>
          <a:solidFill>
            <a:srgbClr val="1A2230"/>
          </a:solidFill>
          <a:ln cap="flat" cmpd="sng" w="9525">
            <a:solidFill>
              <a:srgbClr val="2A3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5861404" y="4057213"/>
            <a:ext cx="2724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get_weather()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861404" y="4294957"/>
            <a:ext cx="2724900" cy="201300"/>
          </a:xfrm>
          <a:prstGeom prst="rect">
            <a:avLst/>
          </a:prstGeom>
          <a:solidFill>
            <a:srgbClr val="1A2230"/>
          </a:solidFill>
          <a:ln cap="flat" cmpd="sng" w="9525">
            <a:solidFill>
              <a:srgbClr val="2A3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5861404" y="4294957"/>
            <a:ext cx="2724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get_traffic()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5861404" y="4532701"/>
            <a:ext cx="2724900" cy="201300"/>
          </a:xfrm>
          <a:prstGeom prst="rect">
            <a:avLst/>
          </a:prstGeom>
          <a:solidFill>
            <a:srgbClr val="1A2230"/>
          </a:solidFill>
          <a:ln cap="flat" cmpd="sng" w="9525">
            <a:solidFill>
              <a:srgbClr val="2A3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5861404" y="4532701"/>
            <a:ext cx="2724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get_air_quality()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57825" y="4273025"/>
            <a:ext cx="2724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E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9EBF"/>
                </a:solidFill>
                <a:latin typeface="Calibri"/>
                <a:ea typeface="Calibri"/>
                <a:cs typeface="Calibri"/>
                <a:sym typeface="Calibri"/>
              </a:rPr>
              <a:t>create_issue()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/>
          <p:nvPr/>
        </p:nvSpPr>
        <p:spPr>
          <a:xfrm>
            <a:off x="594360" y="201168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05  ·  Architecture &amp; Integrations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594360" y="45720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It All Connects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594360" y="123444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457200" y="1463040"/>
            <a:ext cx="1965960" cy="109728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457200" y="1508760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APIs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457200" y="1920240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Weather · Transport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Air quality · UV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2450592" y="1901952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2651760" y="1463040"/>
            <a:ext cx="1965960" cy="109728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2651760" y="1508760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 Server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2651760" y="1920240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AWS Lambda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Tool functions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645152" y="1901952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846320" y="1463040"/>
            <a:ext cx="1965960" cy="109728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4846320" y="1508760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Bedrock Agent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846320" y="1920240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Understands intent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Orchestrates calls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839712" y="1901952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7040880" y="1463040"/>
            <a:ext cx="1965960" cy="109728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7040880" y="1508760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7040880" y="1920240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Telegram Bot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594360" y="274320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594360" y="28803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Telegram Bot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94360" y="3291840"/>
            <a:ext cx="3749100" cy="16458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4663440" y="2880360"/>
            <a:ext cx="18288" cy="20574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4846320" y="28803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1763" y="3291850"/>
            <a:ext cx="3425597" cy="1645900"/>
          </a:xfrm>
          <a:prstGeom prst="rect">
            <a:avLst/>
          </a:prstGeom>
          <a:solidFill>
            <a:srgbClr val="1A1A1A"/>
          </a:solidFill>
          <a:ln cap="flat" cmpd="sng" w="28575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9" name="Google Shape;199;p10" title="telegramB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0425" y="2817400"/>
            <a:ext cx="1452974" cy="227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0" title="telegramQ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0172" y="3291900"/>
            <a:ext cx="1452968" cy="164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/>
          <p:nvPr/>
        </p:nvSpPr>
        <p:spPr>
          <a:xfrm>
            <a:off x="594360" y="1188720"/>
            <a:ext cx="7955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libri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594360" y="2423160"/>
            <a:ext cx="914400" cy="27432"/>
          </a:xfrm>
          <a:prstGeom prst="rect">
            <a:avLst/>
          </a:prstGeom>
          <a:solidFill>
            <a:srgbClr val="4A9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594360" y="466344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Jia Lyu  ·  Jakub Dusza  ·  José Arias Pérez  ·  Mark Atzberger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11" title="ZetlkX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7935" y="1134228"/>
            <a:ext cx="2498673" cy="249867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1"/>
          <p:cNvSpPr txBox="1"/>
          <p:nvPr/>
        </p:nvSpPr>
        <p:spPr>
          <a:xfrm>
            <a:off x="594350" y="2653300"/>
            <a:ext cx="4477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Website: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https://shorturl.at/x0aWW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5597925" y="487725"/>
            <a:ext cx="3717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 mobile: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