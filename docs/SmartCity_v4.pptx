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4"/>
    <p:sldId id="266" r:id="rId15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d48f473e2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fd48f473e2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d48f473e2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94360" y="1097280"/>
            <a:ext cx="7955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Smart City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94360" y="20116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Making Barcelona's open data accessible through AI &amp; Cloud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94360" y="2606040"/>
            <a:ext cx="914400" cy="27432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94360" y="283464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Jia Lyu  ·  Jakub Dusza  ·  José Arias Pérez  ·  Mark Atzberger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94360" y="324612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50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05050"/>
                </a:solidFill>
                <a:latin typeface="Calibri"/>
                <a:ea typeface="Calibri"/>
                <a:cs typeface="Calibri"/>
                <a:sym typeface="Calibri"/>
              </a:rPr>
              <a:t>CCBDA  ·  May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594360" y="201168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94360" y="4572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94360" y="123444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94360" y="1353312"/>
            <a:ext cx="502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143000" y="1353312"/>
            <a:ext cx="6858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Project idea &amp; background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94360" y="1755648"/>
            <a:ext cx="7955280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94360" y="1828800"/>
            <a:ext cx="502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143000" y="1828800"/>
            <a:ext cx="6858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Project’s Evolution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94360" y="2231136"/>
            <a:ext cx="7955280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94360" y="2304288"/>
            <a:ext cx="502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143000" y="2304288"/>
            <a:ext cx="6858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Amazon Bedrock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94360" y="2706624"/>
            <a:ext cx="7955280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94360" y="2779776"/>
            <a:ext cx="502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43000" y="2779776"/>
            <a:ext cx="6858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94360" y="3182112"/>
            <a:ext cx="7955280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94360" y="3255264"/>
            <a:ext cx="502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143000" y="3255264"/>
            <a:ext cx="6858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Integrations &amp;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94360" y="3657600"/>
            <a:ext cx="7955280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94360" y="3730752"/>
            <a:ext cx="502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43000" y="3730752"/>
            <a:ext cx="6858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594360" y="201168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01  ·  Project Idea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94360" y="4572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Barcelona Smart City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94360" y="123444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594360" y="13898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94360" y="1559904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Barcelona's open data is spread across many APIs — hard to access and use daily.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94360" y="2336295"/>
            <a:ext cx="3840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94360" y="2507299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An AI layer that lets anyone ask questions in plain language and get instant city insights.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663440" y="1389888"/>
            <a:ext cx="18288" cy="26517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846320" y="138988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846320" y="18288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Weather (Open-Meteo</a:t>
            </a:r>
            <a:r>
              <a:rPr lang="en-US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, XVPCA from Barcelona city’s open data portal</a:t>
            </a: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846320" y="230428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Transportation(TMB API, citybik.es, Transitous)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846320" y="2779776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Air quality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846320" y="3255264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UV index(currentuvindex.com)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94360" y="416052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94360" y="3282643"/>
            <a:ext cx="146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Target users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94360" y="3510618"/>
            <a:ext cx="6400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Everyday residents and visitors in Barcelona</a:t>
            </a:r>
            <a:endParaRPr b="0" i="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594360" y="201168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02  ·  Evolution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94360" y="4572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Evol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94360" y="123444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594360" y="1618488"/>
            <a:ext cx="347472" cy="347472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749808" y="1965960"/>
            <a:ext cx="36576" cy="5943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1097280" y="1600195"/>
            <a:ext cx="7315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 proposal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097280" y="1819656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Data lake on AWS — S3, Glue, Athena, QuickSight dashboard, Bedrock chatbot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94360" y="2715768"/>
            <a:ext cx="347472" cy="347472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49808" y="3063240"/>
            <a:ext cx="36576" cy="5943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097280" y="2697488"/>
            <a:ext cx="7315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Discovered MCP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97280" y="2916936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Model Context Protocol — a standard that lets any AI agent call our tools via a single server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94360" y="3813048"/>
            <a:ext cx="347472" cy="347472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097280" y="3776480"/>
            <a:ext cx="7315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097280" y="4014216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MCP Server </a:t>
            </a:r>
            <a:r>
              <a:rPr lang="en-US" sz="1300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used by</a:t>
            </a: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 AWS Lambda + Bedrock Agents + Telegram Bot +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594360" y="201168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03  ·  Amazon Bedrock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94360" y="4572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Amazon Bedrock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94360" y="123444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594360" y="1371600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94360" y="1737360"/>
            <a:ext cx="7955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 managed AWS service that gives access to foundation models (Claude, Llama, Titan) via API — no model training, no infrastructure to manage.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94360" y="2450592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594360" y="2587752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Why we chose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94360" y="299923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 to set 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94360" y="3346704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No model hosting or scaling needed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3383280" y="299923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Stays inside AWS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3383280" y="3346704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Security, IAM, VPC — all handled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172200" y="299923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Bedrock Agents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172200" y="3346704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Orchestrates multi-step tool calls automatically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94360" y="397764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594360" y="201168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04  ·  MCP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594360" y="4572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Context Protocol - MCP Server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94360" y="123444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594360" y="137160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A standard protocol that lets any AI agent connect to any tool server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94360" y="2029968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594360" y="2148840"/>
            <a:ext cx="7955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594360" y="2651760"/>
            <a:ext cx="320040" cy="320040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1051560" y="260604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Handshake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2743200" y="2606040"/>
            <a:ext cx="566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Client connects → server replies with available tools and capabilities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94360" y="3191256"/>
            <a:ext cx="7955280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594360" y="3310128"/>
            <a:ext cx="320040" cy="320040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1051560" y="3264408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2743200" y="3264408"/>
            <a:ext cx="566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Client asks "tools/list" → server returns names, descriptions, input schemas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94360" y="3849624"/>
            <a:ext cx="7955280" cy="9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594360" y="3968496"/>
            <a:ext cx="320040" cy="320040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051560" y="3922776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2743200" y="3922776"/>
            <a:ext cx="5669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Client calls "tools/call" with arguments → server runs it and returns JSON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94360" y="4645152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594360" y="201168"/>
            <a:ext cx="795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04  ·  MCP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594360" y="457200"/>
            <a:ext cx="7955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Context Protocol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594360" y="1188720"/>
            <a:ext cx="7955400" cy="183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9"/>
          <p:cNvCxnSpPr/>
          <p:nvPr/>
        </p:nvCxnSpPr>
        <p:spPr>
          <a:xfrm flipH="1">
            <a:off x="2971500" y="2697480"/>
            <a:ext cx="300" cy="534600"/>
          </a:xfrm>
          <a:prstGeom prst="straightConnector1">
            <a:avLst/>
          </a:prstGeom>
          <a:noFill/>
          <a:ln cap="flat" cmpd="sng" w="1015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9"/>
          <p:cNvCxnSpPr/>
          <p:nvPr/>
        </p:nvCxnSpPr>
        <p:spPr>
          <a:xfrm>
            <a:off x="1920290" y="3233492"/>
            <a:ext cx="1051500" cy="0"/>
          </a:xfrm>
          <a:prstGeom prst="straightConnector1">
            <a:avLst/>
          </a:prstGeom>
          <a:noFill/>
          <a:ln cap="flat" cmpd="sng" w="1015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9"/>
          <p:cNvCxnSpPr/>
          <p:nvPr/>
        </p:nvCxnSpPr>
        <p:spPr>
          <a:xfrm>
            <a:off x="1920215" y="3233417"/>
            <a:ext cx="0" cy="109800"/>
          </a:xfrm>
          <a:prstGeom prst="straightConnector1">
            <a:avLst/>
          </a:prstGeom>
          <a:noFill/>
          <a:ln cap="flat" cmpd="sng" w="10150">
            <a:solidFill>
              <a:srgbClr val="38383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9"/>
          <p:cNvCxnSpPr/>
          <p:nvPr/>
        </p:nvCxnSpPr>
        <p:spPr>
          <a:xfrm>
            <a:off x="6172200" y="2697480"/>
            <a:ext cx="9000" cy="606600"/>
          </a:xfrm>
          <a:prstGeom prst="straightConnector1">
            <a:avLst/>
          </a:prstGeom>
          <a:noFill/>
          <a:ln cap="flat" cmpd="sng" w="10150">
            <a:solidFill>
              <a:srgbClr val="4A9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9"/>
          <p:cNvCxnSpPr/>
          <p:nvPr/>
        </p:nvCxnSpPr>
        <p:spPr>
          <a:xfrm>
            <a:off x="6178680" y="3289051"/>
            <a:ext cx="1051500" cy="0"/>
          </a:xfrm>
          <a:prstGeom prst="straightConnector1">
            <a:avLst/>
          </a:prstGeom>
          <a:noFill/>
          <a:ln cap="flat" cmpd="sng" w="10150">
            <a:solidFill>
              <a:srgbClr val="4A9EB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9"/>
          <p:cNvCxnSpPr/>
          <p:nvPr/>
        </p:nvCxnSpPr>
        <p:spPr>
          <a:xfrm>
            <a:off x="7223810" y="3289042"/>
            <a:ext cx="0" cy="109800"/>
          </a:xfrm>
          <a:prstGeom prst="straightConnector1">
            <a:avLst/>
          </a:prstGeom>
          <a:noFill/>
          <a:ln cap="flat" cmpd="sng" w="10150">
            <a:solidFill>
              <a:srgbClr val="4A9E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9"/>
          <p:cNvSpPr/>
          <p:nvPr/>
        </p:nvSpPr>
        <p:spPr>
          <a:xfrm>
            <a:off x="1645925" y="1353300"/>
            <a:ext cx="5852100" cy="1428600"/>
          </a:xfrm>
          <a:prstGeom prst="rect">
            <a:avLst/>
          </a:prstGeom>
          <a:solidFill>
            <a:srgbClr val="171717"/>
          </a:solidFill>
          <a:ln cap="flat" cmpd="sng" w="19050">
            <a:solidFill>
              <a:srgbClr val="4A9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1645920" y="1444752"/>
            <a:ext cx="5852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Host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645920" y="1755648"/>
            <a:ext cx="585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e.g. Claude / Bedrock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920240" y="2103120"/>
            <a:ext cx="2103000" cy="594300"/>
          </a:xfrm>
          <a:prstGeom prst="rect">
            <a:avLst/>
          </a:prstGeom>
          <a:solidFill>
            <a:srgbClr val="242424"/>
          </a:solidFill>
          <a:ln cap="flat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1920240" y="2103120"/>
            <a:ext cx="2103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920240" y="2404872"/>
            <a:ext cx="210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GitHub connection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120640" y="2103120"/>
            <a:ext cx="2103000" cy="594300"/>
          </a:xfrm>
          <a:prstGeom prst="rect">
            <a:avLst/>
          </a:prstGeom>
          <a:solidFill>
            <a:srgbClr val="141820"/>
          </a:solidFill>
          <a:ln cap="flat" cmpd="sng" w="12700">
            <a:solidFill>
              <a:srgbClr val="4A9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5120640" y="2103120"/>
            <a:ext cx="2103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120640" y="2404872"/>
            <a:ext cx="2103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Smart City connection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069080" y="2194560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 client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per 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11475" y="3365050"/>
            <a:ext cx="3017400" cy="1572600"/>
          </a:xfrm>
          <a:prstGeom prst="rect">
            <a:avLst/>
          </a:prstGeom>
          <a:solidFill>
            <a:srgbClr val="141414"/>
          </a:solidFill>
          <a:ln cap="flat" cmpd="sng" w="12700">
            <a:solidFill>
              <a:srgbClr val="3838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411530" y="3468348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411530" y="3632939"/>
            <a:ext cx="301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b="1" i="0" lang="en-US" sz="16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557784" y="4035276"/>
            <a:ext cx="2724900" cy="2013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557850" y="4035275"/>
            <a:ext cx="272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E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9EBF"/>
                </a:solidFill>
                <a:latin typeface="Calibri"/>
                <a:ea typeface="Calibri"/>
                <a:cs typeface="Calibri"/>
                <a:sym typeface="Calibri"/>
              </a:rPr>
              <a:t>list_repos()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57784" y="4273020"/>
            <a:ext cx="2724900" cy="2013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557784" y="4510764"/>
            <a:ext cx="2724900" cy="2013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557950" y="4510775"/>
            <a:ext cx="272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E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9EBF"/>
                </a:solidFill>
                <a:latin typeface="Calibri"/>
                <a:ea typeface="Calibri"/>
                <a:cs typeface="Calibri"/>
                <a:sym typeface="Calibri"/>
              </a:rPr>
              <a:t>get_commits()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715100" y="3398851"/>
            <a:ext cx="3017400" cy="1538700"/>
          </a:xfrm>
          <a:prstGeom prst="rect">
            <a:avLst/>
          </a:prstGeom>
          <a:solidFill>
            <a:srgbClr val="141820"/>
          </a:solidFill>
          <a:ln cap="flat" cmpd="sng" w="15225">
            <a:solidFill>
              <a:srgbClr val="4A9E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5715100" y="3490285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715100" y="3654877"/>
            <a:ext cx="301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Smart City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861404" y="4057213"/>
            <a:ext cx="2724900" cy="201300"/>
          </a:xfrm>
          <a:prstGeom prst="rect">
            <a:avLst/>
          </a:prstGeom>
          <a:solidFill>
            <a:srgbClr val="1A2230"/>
          </a:solidFill>
          <a:ln cap="flat" cmpd="sng" w="9525">
            <a:solidFill>
              <a:srgbClr val="2A3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5861404" y="4057213"/>
            <a:ext cx="272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get_weather()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861404" y="4294957"/>
            <a:ext cx="2724900" cy="201300"/>
          </a:xfrm>
          <a:prstGeom prst="rect">
            <a:avLst/>
          </a:prstGeom>
          <a:solidFill>
            <a:srgbClr val="1A2230"/>
          </a:solidFill>
          <a:ln cap="flat" cmpd="sng" w="9525">
            <a:solidFill>
              <a:srgbClr val="2A3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5861404" y="4294957"/>
            <a:ext cx="272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get_traffic()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861404" y="4532701"/>
            <a:ext cx="2724900" cy="201300"/>
          </a:xfrm>
          <a:prstGeom prst="rect">
            <a:avLst/>
          </a:prstGeom>
          <a:solidFill>
            <a:srgbClr val="1A2230"/>
          </a:solidFill>
          <a:ln cap="flat" cmpd="sng" w="9525">
            <a:solidFill>
              <a:srgbClr val="2A3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861404" y="4532701"/>
            <a:ext cx="272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get_air_quality()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57825" y="4273025"/>
            <a:ext cx="272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E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9EBF"/>
                </a:solidFill>
                <a:latin typeface="Calibri"/>
                <a:ea typeface="Calibri"/>
                <a:cs typeface="Calibri"/>
                <a:sym typeface="Calibri"/>
              </a:rPr>
              <a:t>create_issue()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/>
          <p:nvPr/>
        </p:nvSpPr>
        <p:spPr>
          <a:xfrm>
            <a:off x="594360" y="201168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05  ·  Architecture &amp; Integrations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594360" y="4572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It All Connects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94360" y="123444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457200" y="1463040"/>
            <a:ext cx="1965960" cy="109728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457200" y="1508760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APIs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57200" y="1920240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Weather · Transport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Air quality · UV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2450592" y="1901952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2651760" y="1463040"/>
            <a:ext cx="1965960" cy="109728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2651760" y="1508760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2651760" y="1920240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AWS Lambda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Tool functions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645152" y="1901952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846320" y="1463040"/>
            <a:ext cx="1965960" cy="109728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4846320" y="1508760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Bedrock Agent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846320" y="1920240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Understands intent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Orchestrates calls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839712" y="1901952"/>
            <a:ext cx="164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7040880" y="1463040"/>
            <a:ext cx="1965960" cy="109728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7040880" y="1508760"/>
            <a:ext cx="1965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7040880" y="1920240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Telegram Bot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594360" y="274320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594360" y="28803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Telegram Bot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94360" y="3291840"/>
            <a:ext cx="3749100" cy="16458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4663440" y="2880360"/>
            <a:ext cx="18288" cy="20574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4846320" y="28803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EB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EB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1763" y="3291850"/>
            <a:ext cx="3425597" cy="1645900"/>
          </a:xfrm>
          <a:prstGeom prst="rect">
            <a:avLst/>
          </a:prstGeom>
          <a:solidFill>
            <a:srgbClr val="1A1A1A"/>
          </a:solidFill>
          <a:ln cap="flat" cmpd="sng" w="28575">
            <a:solidFill>
              <a:srgbClr val="25252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9" name="Google Shape;199;p10" title="telegramB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0425" y="2817400"/>
            <a:ext cx="1452974" cy="227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0" title="telegramQ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0172" y="3291900"/>
            <a:ext cx="1452968" cy="164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594360" y="1188720"/>
            <a:ext cx="7955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594360" y="2423160"/>
            <a:ext cx="914400" cy="27432"/>
          </a:xfrm>
          <a:prstGeom prst="rect">
            <a:avLst/>
          </a:prstGeom>
          <a:solidFill>
            <a:srgbClr val="4A9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Jia Lyu  ·  Jakub Dusza  ·  José Arias Pérez  ·  Mark Atzberger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1" title="ZetlkX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7935" y="1134228"/>
            <a:ext cx="2498673" cy="249867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1"/>
          <p:cNvSpPr txBox="1"/>
          <p:nvPr/>
        </p:nvSpPr>
        <p:spPr>
          <a:xfrm>
            <a:off x="594350" y="2653300"/>
            <a:ext cx="447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Website: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https://shorturl.at/x0aWW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5597925" y="487725"/>
            <a:ext cx="3717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 mobile:</a:t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7955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BF"/>
                </a:solidFill>
                <a:latin typeface="Calibri"/>
              </a:rPr>
              <a:t>05  ·  Architecture &amp;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7955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AWS Resources Deployed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5000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50000"/>
          <a:ext cx="795528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3500000"/>
                <a:gridCol w="2255280"/>
              </a:tblGrid>
              <a:tr h="31818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</a:tr>
              <a:tr h="3181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DynamoDB (×7)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BicingStations, TransitStops, …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City data storage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181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Lambda (×5 ingest)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smart-city-*-ingest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Data collectors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</a:tr>
              <a:tr h="3181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Lambda (×1 MCP)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smart-city-mcp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MCP server handler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181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Lambda (×1 chat)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smart-city-chat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Bedrock agentic loop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</a:tr>
              <a:tr h="3181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API Gateway (×2)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MCP + chat endpoints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HTTPS routing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181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EventBridge (×6)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*-ingest-schedule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Trigger schedules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</a:tr>
              <a:tr h="3181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barcelona-smart-city-site-*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Static frontend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181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CloudFront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E2LPOSVMFTXZ34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CDN + HTTPS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</a:tr>
              <a:tr h="31818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AgentCore Gateway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barcelona-smart-city-xwyxovrhex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Managed MCP proxy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3181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IAM roles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smart-city-lambda-*-role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CCCC"/>
                          </a:solidFill>
                          <a:latin typeface="Calibri"/>
                        </a:rPr>
                        <a:t>Least-privilege per Lambda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"/>
            <a:ext cx="7955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9EBF"/>
                </a:solidFill>
                <a:latin typeface="Calibri"/>
              </a:rPr>
              <a:t>05  ·  Architecture &amp;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7955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50000"/>
            <a:ext cx="7955280" cy="18288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000" y="1250000"/>
            <a:ext cx="7700000" cy="38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1290000"/>
            <a:ext cx="2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EBF"/>
                </a:solidFill>
                <a:latin typeface="Calibri"/>
              </a:rP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1460000"/>
            <a:ext cx="75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Bicing GBFS  ·  TMB GTFS  ·  Open Data BCN  ·  Open-Meteo  ·  currentuvindex.com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0000" y="1680000"/>
            <a:ext cx="2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77777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700000" y="1830000"/>
            <a:ext cx="7700000" cy="78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1860000"/>
            <a:ext cx="3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EBF"/>
                </a:solidFill>
                <a:latin typeface="Calibri"/>
              </a:rPr>
              <a:t>INGESTION LAYER (AWS)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2050000"/>
            <a:ext cx="750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EventBridge Schedules → Lambda ×5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  • bicing_ingest      (every 5 min)  → BicingStations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  • air_quality_ingest (every 1 hr)   → AirQualityReadings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  • weather_ingest     (every 1 hr)   → WeatherData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  • uv_ingest          (every 1 hr)   → UVData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  • pollen_ingest      (every 1 hr)   → PollenData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One-time: load_gtfs.py              → TransitStops (3,453 stops)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0000" y="2660000"/>
            <a:ext cx="2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77777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000" y="2810000"/>
            <a:ext cx="7700000" cy="42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40000"/>
            <a:ext cx="3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EBF"/>
                </a:solidFill>
                <a:latin typeface="Calibri"/>
              </a:rPr>
              <a:t>STORAGE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" y="3030000"/>
            <a:ext cx="7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DynamoDB (eu-west-1, on-demand capacity, 30-day TTL)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  • BicingStations  • TransitStops  • ScheduleCache  • AirQualityReadings  • WeatherData  • UVData  • PollenData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0000" y="3280000"/>
            <a:ext cx="2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77777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3430000"/>
            <a:ext cx="7700000" cy="44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60000"/>
            <a:ext cx="4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EBF"/>
                </a:solidFill>
                <a:latin typeface="Calibri"/>
              </a:rPr>
              <a:t>SERVING LAYER (MCP Server)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00" y="3650000"/>
            <a:ext cx="75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API Gateway (HTTP API) → Lambda: mcp_server (Python, FastMCP)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  • 11 tools exposed via JSON-RPC 2.0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  • Reads from DynamoDB + calls live APIs (Transitous, UV, Pollen)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  • Stateless — each request is independent Lambda invocation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0000" y="3920000"/>
            <a:ext cx="2000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77777"/>
                </a:solidFill>
                <a:latin typeface="Calibri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000" y="4070000"/>
            <a:ext cx="3800000" cy="58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4100000"/>
            <a:ext cx="3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EBF"/>
                </a:solidFill>
                <a:latin typeface="Calibri"/>
              </a:rPr>
              <a:t>EXTERNAL MCP CLIENTS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3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• claude.ai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• Claude Desktop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• VS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00000" y="4070000"/>
            <a:ext cx="3800000" cy="58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00" y="4100000"/>
            <a:ext cx="3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9EBF"/>
                </a:solidFill>
                <a:latin typeface="Calibri"/>
              </a:rPr>
              <a:t>BEDROCK CHAT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00" y="43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CloudFront → S3 (static HTML/JS)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API Gateway → Lambda: smart-city-chat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  bedrock-runtime.invoke_model (Claude Haiku)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  agentic loop (up to 8 rounds)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>
                <a:solidFill>
                  <a:srgbClr val="777777"/>
                </a:solidFill>
                <a:latin typeface="Consolas"/>
              </a:rPr>
              <a:t>  HTTP POST → MCP server (tool calls)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